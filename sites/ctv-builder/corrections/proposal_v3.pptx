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ctv_logo.png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ctv_logo.png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ctv_logo.png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ctv_logo.png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ctv_logo.png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ctv_logo.png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ctv_logo.png"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ctv_logo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01" name="CTV Builder Logo"/>
          <p:cNvPicPr>
            <a:picLocks noChangeAspect="1"/>
          </p:cNvPicPr>
          <p:nvPr/>
        </p:nvPicPr>
        <p:blipFill>
          <a:blip xmlns:r="http://schemas.openxmlformats.org/officeDocument/2006/relationships" r:embed="rId2"/>
          <a:stretch>
            <a:fillRect/>
          </a:stretch>
        </p:blipFill>
        <p:spPr>
          <a:xfrm>
            <a:off x="457200" y="274320"/>
            <a:ext cx="2643490" cy="47320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0515600" y="329184"/>
            <a:ext cx="121615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>
                <a:solidFill>
                  <a:srgbClr val="64748B"/>
                </a:solidFill>
                <a:latin typeface="Inter"/>
              </a:rPr>
              <a:t>01 / 08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841248"/>
            <a:ext cx="11274552" cy="9144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6355080"/>
            <a:ext cx="11274552" cy="9144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6446520"/>
            <a:ext cx="7315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Inter"/>
              </a:rPr>
              <a:t>Synthetic portfolio demo — figures shown are illustrative.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0" y="6446520"/>
            <a:ext cx="395935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>
                <a:solidFill>
                  <a:srgbClr val="64748B"/>
                </a:solidFill>
                <a:latin typeface="Inter"/>
              </a:rPr>
              <a:t>Live Sports CTV Builder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1188720"/>
            <a:ext cx="457200" cy="41148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128016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F3A5F"/>
                </a:solidFill>
                <a:latin typeface="Inter"/>
              </a:rPr>
              <a:t>PROPOSAL FOR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1600200"/>
            <a:ext cx="105156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200" b="1">
                <a:solidFill>
                  <a:srgbClr val="0F172A"/>
                </a:solidFill>
                <a:latin typeface="Cambria"/>
              </a:rPr>
              <a:t>Zach's Surf Shop 🌊🏄☀️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274320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>
                <a:solidFill>
                  <a:srgbClr val="334155"/>
                </a:solidFill>
                <a:latin typeface="Inter"/>
              </a:rPr>
              <a:t>Pro Basketball Postseason broadcasts in Los Angeles DMA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7280" y="3520440"/>
            <a:ext cx="10058400" cy="9144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" y="370332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64748B"/>
                </a:solidFill>
                <a:latin typeface="Inter"/>
              </a:rPr>
              <a:t>FLIGHT WINDOW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3950208"/>
            <a:ext cx="36576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0F172A"/>
                </a:solidFill>
                <a:latin typeface="Inter"/>
              </a:rPr>
              <a:t>4/18 – 6/21/2026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937760" y="3703320"/>
            <a:ext cx="6217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64748B"/>
                </a:solidFill>
                <a:latin typeface="Inter"/>
              </a:rPr>
              <a:t>LIVE CONTENT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937760" y="3950208"/>
            <a:ext cx="62179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0F172A"/>
                </a:solidFill>
                <a:latin typeface="Inter"/>
              </a:rPr>
              <a:t>Pro Basketball Postseason · Live in-game telecast inventory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02" name="CTV Builder Logo"/>
          <p:cNvPicPr>
            <a:picLocks noChangeAspect="1"/>
          </p:cNvPicPr>
          <p:nvPr/>
        </p:nvPicPr>
        <p:blipFill>
          <a:blip xmlns:r="http://schemas.openxmlformats.org/officeDocument/2006/relationships" r:embed="rId2"/>
          <a:stretch>
            <a:fillRect/>
          </a:stretch>
        </p:blipFill>
        <p:spPr>
          <a:xfrm>
            <a:off x="457200" y="274320"/>
            <a:ext cx="2643490" cy="47320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0515600" y="329184"/>
            <a:ext cx="121615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>
                <a:solidFill>
                  <a:srgbClr val="64748B"/>
                </a:solidFill>
                <a:latin typeface="Inter"/>
              </a:rPr>
              <a:t>02 / 08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841248"/>
            <a:ext cx="11274552" cy="9144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6355080"/>
            <a:ext cx="11274552" cy="9144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6446520"/>
            <a:ext cx="7315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Inter"/>
              </a:rPr>
              <a:t>Synthetic portfolio demo — figures shown are illustrative.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0" y="6446520"/>
            <a:ext cx="395935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>
                <a:solidFill>
                  <a:srgbClr val="64748B"/>
                </a:solidFill>
                <a:latin typeface="Inter"/>
              </a:rPr>
              <a:t>Zach's Surf Shop 🌊🏄☀️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1088136"/>
            <a:ext cx="91440" cy="9144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1060704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1F3A5F"/>
                </a:solidFill>
                <a:latin typeface="Inter"/>
              </a:rPr>
              <a:t>OVERVIEW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1325880"/>
            <a:ext cx="112471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0F172A"/>
                </a:solidFill>
                <a:latin typeface="Cambria"/>
              </a:rPr>
              <a:t>Executive Summary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1965960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64748B"/>
                </a:solidFill>
                <a:latin typeface="Inter"/>
              </a:rPr>
              <a:t>This proposal structures the buy as a 50/50 match between Live and Support inventory. Total package investment is $4,000, allocated as $2,000 to Live in-game inventory and $2,000 to a single Support line. The three Support options below differ in CPM and resulting impression delivery; one must be selected to complete the package.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2606040"/>
            <a:ext cx="3637178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57200" y="2606040"/>
            <a:ext cx="73152" cy="9144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2770632"/>
            <a:ext cx="327141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64748B"/>
                </a:solidFill>
                <a:latin typeface="Inter"/>
              </a:rPr>
              <a:t>FLIGHT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3026664"/>
            <a:ext cx="327141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0F172A"/>
                </a:solidFill>
                <a:latin typeface="Inter"/>
              </a:rPr>
              <a:t>4/18 – 6/21/2026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277258" y="2606040"/>
            <a:ext cx="3637178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05858" y="2770632"/>
            <a:ext cx="327141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64748B"/>
                </a:solidFill>
                <a:latin typeface="Inter"/>
              </a:rPr>
              <a:t>LIVE INVESTMENT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05858" y="3026664"/>
            <a:ext cx="327141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0F172A"/>
                </a:solidFill>
                <a:latin typeface="Inter"/>
              </a:rPr>
              <a:t>$2,000 · 26,667 Imps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097316" y="2606040"/>
            <a:ext cx="3637178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25916" y="2770632"/>
            <a:ext cx="327141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64748B"/>
                </a:solidFill>
                <a:latin typeface="Inter"/>
              </a:rPr>
              <a:t>LIVE CPM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25916" y="3026664"/>
            <a:ext cx="327141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0F172A"/>
                </a:solidFill>
                <a:latin typeface="Inter"/>
              </a:rPr>
              <a:t>$75 CPM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3749039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64748B"/>
                </a:solidFill>
                <a:latin typeface="Inter"/>
              </a:rPr>
              <a:t>SUPPORT LINE ALLOCATION · $2,000 · SELECT ONE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4005072"/>
            <a:ext cx="11274552" cy="9144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57200" y="4160520"/>
            <a:ext cx="3637178" cy="178308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57200" y="4160520"/>
            <a:ext cx="3637178" cy="292608"/>
          </a:xfrm>
          <a:prstGeom prst="rect">
            <a:avLst/>
          </a:prstGeom>
          <a:solidFill>
            <a:srgbClr val="E5EA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" y="4215384"/>
            <a:ext cx="327141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1F3A5F"/>
                </a:solidFill>
                <a:latin typeface="Inter"/>
              </a:rPr>
              <a:t>ADDRESSABLE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4572000"/>
            <a:ext cx="327141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0F172A"/>
                </a:solidFill>
                <a:latin typeface="Inter"/>
              </a:rPr>
              <a:t>$45 CPM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" y="4956048"/>
            <a:ext cx="327141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64748B"/>
                </a:solidFill>
                <a:latin typeface="Inter"/>
              </a:rPr>
              <a:t>FLIGHT IMPRESSIONS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" y="5138928"/>
            <a:ext cx="327141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Inter"/>
              </a:rPr>
              <a:t>44,444 Imps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" y="5422392"/>
            <a:ext cx="327141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64748B"/>
                </a:solidFill>
                <a:latin typeface="Inter"/>
              </a:rPr>
              <a:t>INVESTMENT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" y="5605272"/>
            <a:ext cx="327141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0F172A"/>
                </a:solidFill>
                <a:latin typeface="Inter"/>
              </a:rPr>
              <a:t>$2,000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277258" y="4160520"/>
            <a:ext cx="3637178" cy="178308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277258" y="4160520"/>
            <a:ext cx="3637178" cy="292608"/>
          </a:xfrm>
          <a:prstGeom prst="rect">
            <a:avLst/>
          </a:prstGeom>
          <a:solidFill>
            <a:srgbClr val="E5EA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460138" y="4215384"/>
            <a:ext cx="327141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1F3A5F"/>
                </a:solidFill>
                <a:latin typeface="Inter"/>
              </a:rPr>
              <a:t>CUSTOM NETS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460138" y="4572000"/>
            <a:ext cx="327141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0F172A"/>
                </a:solidFill>
                <a:latin typeface="Inter"/>
              </a:rPr>
              <a:t>$40 CPM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460138" y="4956048"/>
            <a:ext cx="327141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64748B"/>
                </a:solidFill>
                <a:latin typeface="Inter"/>
              </a:rPr>
              <a:t>FLIGHT IMPRESSIONS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460138" y="5138928"/>
            <a:ext cx="327141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Inter"/>
              </a:rPr>
              <a:t>50,000 Imps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460138" y="5422392"/>
            <a:ext cx="327141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64748B"/>
                </a:solidFill>
                <a:latin typeface="Inter"/>
              </a:rPr>
              <a:t>INVESTMENT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460138" y="5605272"/>
            <a:ext cx="327141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0F172A"/>
                </a:solidFill>
                <a:latin typeface="Inter"/>
              </a:rPr>
              <a:t>$2,000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097316" y="4160520"/>
            <a:ext cx="3637178" cy="178308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8097316" y="4160520"/>
            <a:ext cx="3637178" cy="292608"/>
          </a:xfrm>
          <a:prstGeom prst="rect">
            <a:avLst/>
          </a:prstGeom>
          <a:solidFill>
            <a:srgbClr val="E5EA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280196" y="4215384"/>
            <a:ext cx="327141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1F3A5F"/>
                </a:solidFill>
                <a:latin typeface="Inter"/>
              </a:rPr>
              <a:t>AUDIENCE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280196" y="4572000"/>
            <a:ext cx="327141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0F172A"/>
                </a:solidFill>
                <a:latin typeface="Inter"/>
              </a:rPr>
              <a:t>$35 CPM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280196" y="4956048"/>
            <a:ext cx="327141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64748B"/>
                </a:solidFill>
                <a:latin typeface="Inter"/>
              </a:rPr>
              <a:t>FLIGHT IMPRESSIONS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280196" y="5138928"/>
            <a:ext cx="327141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Inter"/>
              </a:rPr>
              <a:t>57,143 Imps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280196" y="5422392"/>
            <a:ext cx="327141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64748B"/>
                </a:solidFill>
                <a:latin typeface="Inter"/>
              </a:rPr>
              <a:t>INVESTMENT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280196" y="5605272"/>
            <a:ext cx="327141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0F172A"/>
                </a:solidFill>
                <a:latin typeface="Inter"/>
              </a:rPr>
              <a:t>$2,000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03" name="CTV Builder Logo"/>
          <p:cNvPicPr>
            <a:picLocks noChangeAspect="1"/>
          </p:cNvPicPr>
          <p:nvPr/>
        </p:nvPicPr>
        <p:blipFill>
          <a:blip xmlns:r="http://schemas.openxmlformats.org/officeDocument/2006/relationships" r:embed="rId2"/>
          <a:stretch>
            <a:fillRect/>
          </a:stretch>
        </p:blipFill>
        <p:spPr>
          <a:xfrm>
            <a:off x="457200" y="274320"/>
            <a:ext cx="2643490" cy="47320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0515600" y="329184"/>
            <a:ext cx="121615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>
                <a:solidFill>
                  <a:srgbClr val="64748B"/>
                </a:solidFill>
                <a:latin typeface="Inter"/>
              </a:rPr>
              <a:t>03 / 08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841248"/>
            <a:ext cx="11274552" cy="9144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6355080"/>
            <a:ext cx="11274552" cy="9144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6446520"/>
            <a:ext cx="7315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Inter"/>
              </a:rPr>
              <a:t>Synthetic portfolio demo — figures shown are illustrative.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0" y="6446520"/>
            <a:ext cx="395935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>
                <a:solidFill>
                  <a:srgbClr val="64748B"/>
                </a:solidFill>
                <a:latin typeface="Inter"/>
              </a:rPr>
              <a:t>Zach's Surf Shop 🌊🏄☀️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1088136"/>
            <a:ext cx="91440" cy="9144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1060704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1F3A5F"/>
                </a:solidFill>
                <a:latin typeface="Inter"/>
              </a:rPr>
              <a:t>PACKAGE DETAIL · AUDIENCE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1325880"/>
            <a:ext cx="112471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0F172A"/>
                </a:solidFill>
                <a:latin typeface="Cambria"/>
              </a:rPr>
              <a:t>Audience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1965960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64748B"/>
                </a:solidFill>
                <a:latin typeface="Inter"/>
              </a:rPr>
              <a:t>Extend your Live campaign with impressions delivered against indexed audience segments — viewers selected by demographic, behavioral, or category-propensity attributes. Inventory mix is optimized to over-deliver against the chosen audience definition. Our team will recommend the right segment build for your campaign goals.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2697480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64748B"/>
                </a:solidFill>
                <a:latin typeface="Inter"/>
              </a:rPr>
              <a:t>WHAT'S INCLUDED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2953512"/>
            <a:ext cx="7132320" cy="9144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" y="3310128"/>
            <a:ext cx="54864" cy="54864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3200400"/>
            <a:ext cx="67665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334155"/>
                </a:solidFill>
                <a:latin typeface="Inter"/>
              </a:rPr>
              <a:t>Indexed audience targeting: demo, behavior, and category-propensity segments.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3813048"/>
            <a:ext cx="54864" cy="54864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3703320"/>
            <a:ext cx="67665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334155"/>
                </a:solidFill>
                <a:latin typeface="Inter"/>
              </a:rPr>
              <a:t>1P and 3P data segments available; 3P data fees may apply.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4315968"/>
            <a:ext cx="54864" cy="54864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" y="4206240"/>
            <a:ext cx="67665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334155"/>
                </a:solidFill>
                <a:latin typeface="Inter"/>
              </a:rPr>
              <a:t>Frequency capping and creative rotation managed at the audience level.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2920" y="4818888"/>
            <a:ext cx="54864" cy="54864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7240" y="4709159"/>
            <a:ext cx="67665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334155"/>
                </a:solidFill>
                <a:latin typeface="Inter"/>
              </a:rPr>
              <a:t>Reporting: impressions, on-target %, reach, frequency, eCPM.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955279" y="2697480"/>
            <a:ext cx="3776472" cy="3108960"/>
          </a:xfrm>
          <a:prstGeom prst="rect">
            <a:avLst/>
          </a:prstGeom>
          <a:solidFill>
            <a:srgbClr val="E5EAF2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955279" y="2697480"/>
            <a:ext cx="73152" cy="310896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29600" y="2926080"/>
            <a:ext cx="331927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1F3A5F"/>
                </a:solidFill>
                <a:latin typeface="Inter"/>
              </a:rPr>
              <a:t>AT A GLANCE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0" y="3200400"/>
            <a:ext cx="331927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0F172A"/>
                </a:solidFill>
                <a:latin typeface="Inter"/>
              </a:rPr>
              <a:t>Audience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0" y="3703320"/>
            <a:ext cx="3319272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334155"/>
                </a:solidFill>
                <a:latin typeface="Inter"/>
              </a:rPr>
              <a:t>Index-based audience targeting against demo, behavior, and category-propensity segments delivered across measured CTV inventory.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229600" y="5029200"/>
            <a:ext cx="3227832" cy="9144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29600" y="5148072"/>
            <a:ext cx="331927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64748B"/>
                </a:solidFill>
                <a:latin typeface="Inter"/>
              </a:rPr>
              <a:t>RATES &amp; DELIVERY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29600" y="5394959"/>
            <a:ext cx="3319272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F3A5F"/>
                </a:solidFill>
                <a:latin typeface="Inter"/>
              </a:rPr>
              <a:t>See package comparison →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04" name="CTV Builder Logo"/>
          <p:cNvPicPr>
            <a:picLocks noChangeAspect="1"/>
          </p:cNvPicPr>
          <p:nvPr/>
        </p:nvPicPr>
        <p:blipFill>
          <a:blip xmlns:r="http://schemas.openxmlformats.org/officeDocument/2006/relationships" r:embed="rId2"/>
          <a:stretch>
            <a:fillRect/>
          </a:stretch>
        </p:blipFill>
        <p:spPr>
          <a:xfrm>
            <a:off x="457200" y="274320"/>
            <a:ext cx="2643490" cy="47320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0515600" y="329184"/>
            <a:ext cx="121615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>
                <a:solidFill>
                  <a:srgbClr val="64748B"/>
                </a:solidFill>
                <a:latin typeface="Inter"/>
              </a:rPr>
              <a:t>04 / 08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841248"/>
            <a:ext cx="11274552" cy="9144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6355080"/>
            <a:ext cx="11274552" cy="9144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6446520"/>
            <a:ext cx="7315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Inter"/>
              </a:rPr>
              <a:t>Synthetic portfolio demo — figures shown are illustrative.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0" y="6446520"/>
            <a:ext cx="395935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>
                <a:solidFill>
                  <a:srgbClr val="64748B"/>
                </a:solidFill>
                <a:latin typeface="Inter"/>
              </a:rPr>
              <a:t>Zach's Surf Shop 🌊🏄☀️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1088136"/>
            <a:ext cx="91440" cy="9144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1060704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1F3A5F"/>
                </a:solidFill>
                <a:latin typeface="Inter"/>
              </a:rPr>
              <a:t>PACKAGE DETAIL · CUSTOM NETS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1325880"/>
            <a:ext cx="112471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0F172A"/>
                </a:solidFill>
                <a:latin typeface="Cambria"/>
              </a:rPr>
              <a:t>Custom Networks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1965960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64748B"/>
                </a:solidFill>
                <a:latin typeface="Inter"/>
              </a:rPr>
              <a:t>Support package · delivers across premium sports networks, keeping all your campaign impressions as content-adjacent as possible.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2697480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64748B"/>
                </a:solidFill>
                <a:latin typeface="Inter"/>
              </a:rPr>
              <a:t>WHAT'S INCLUDED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2953512"/>
            <a:ext cx="7132320" cy="9144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" y="3310128"/>
            <a:ext cx="54864" cy="54864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3200400"/>
            <a:ext cx="67665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334155"/>
                </a:solidFill>
                <a:latin typeface="Inter"/>
              </a:rPr>
              <a:t>Curated network bundle: live sports + sports-adjacent programming.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3813048"/>
            <a:ext cx="54864" cy="54864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3703320"/>
            <a:ext cx="67665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334155"/>
                </a:solidFill>
                <a:latin typeface="Inter"/>
              </a:rPr>
              <a:t>Cross-network frequency management to control duplication.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4315968"/>
            <a:ext cx="54864" cy="54864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" y="4206240"/>
            <a:ext cx="67665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334155"/>
                </a:solidFill>
                <a:latin typeface="Inter"/>
              </a:rPr>
              <a:t>Brand-safe, content-adjacent context aligned to the live sports environment.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2920" y="4818888"/>
            <a:ext cx="54864" cy="54864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7240" y="4709159"/>
            <a:ext cx="67665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334155"/>
                </a:solidFill>
                <a:latin typeface="Inter"/>
              </a:rPr>
              <a:t>Reporting: impressions, network mix, reach, frequency.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955279" y="2697480"/>
            <a:ext cx="3776472" cy="3108960"/>
          </a:xfrm>
          <a:prstGeom prst="rect">
            <a:avLst/>
          </a:prstGeom>
          <a:solidFill>
            <a:srgbClr val="E5EAF2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955279" y="2697480"/>
            <a:ext cx="73152" cy="310896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29600" y="2926080"/>
            <a:ext cx="331927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1F3A5F"/>
                </a:solidFill>
                <a:latin typeface="Inter"/>
              </a:rPr>
              <a:t>AT A GLANCE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0" y="3200400"/>
            <a:ext cx="331927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0F172A"/>
                </a:solidFill>
                <a:latin typeface="Inter"/>
              </a:rPr>
              <a:t>Custom Networks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0" y="3703320"/>
            <a:ext cx="3319272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334155"/>
                </a:solidFill>
                <a:latin typeface="Inter"/>
              </a:rPr>
              <a:t>Curated bundle of premium sports and sports-adjacent networks delivering cross-network reach alongside the live in-game telecast.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229600" y="5029200"/>
            <a:ext cx="3227832" cy="9144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29600" y="5148072"/>
            <a:ext cx="331927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64748B"/>
                </a:solidFill>
                <a:latin typeface="Inter"/>
              </a:rPr>
              <a:t>RATES &amp; DELIVERY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29600" y="5394959"/>
            <a:ext cx="3319272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F3A5F"/>
                </a:solidFill>
                <a:latin typeface="Inter"/>
              </a:rPr>
              <a:t>See package comparison →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05" name="CTV Builder Logo"/>
          <p:cNvPicPr>
            <a:picLocks noChangeAspect="1"/>
          </p:cNvPicPr>
          <p:nvPr/>
        </p:nvPicPr>
        <p:blipFill>
          <a:blip xmlns:r="http://schemas.openxmlformats.org/officeDocument/2006/relationships" r:embed="rId2"/>
          <a:stretch>
            <a:fillRect/>
          </a:stretch>
        </p:blipFill>
        <p:spPr>
          <a:xfrm>
            <a:off x="457200" y="274320"/>
            <a:ext cx="2643490" cy="47320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0515600" y="329184"/>
            <a:ext cx="121615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>
                <a:solidFill>
                  <a:srgbClr val="64748B"/>
                </a:solidFill>
                <a:latin typeface="Inter"/>
              </a:rPr>
              <a:t>05 / 08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841248"/>
            <a:ext cx="11274552" cy="9144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6355080"/>
            <a:ext cx="11274552" cy="9144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6446520"/>
            <a:ext cx="7315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Inter"/>
              </a:rPr>
              <a:t>Synthetic portfolio demo — figures shown are illustrative.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0" y="6446520"/>
            <a:ext cx="395935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>
                <a:solidFill>
                  <a:srgbClr val="64748B"/>
                </a:solidFill>
                <a:latin typeface="Inter"/>
              </a:rPr>
              <a:t>Zach's Surf Shop 🌊🏄☀️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1088136"/>
            <a:ext cx="91440" cy="9144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1060704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1F3A5F"/>
                </a:solidFill>
                <a:latin typeface="Inter"/>
              </a:rPr>
              <a:t>PACKAGE DETAIL · ADDRESSABLE TARGETING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1325880"/>
            <a:ext cx="112471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0F172A"/>
                </a:solidFill>
                <a:latin typeface="Cambria"/>
              </a:rPr>
              <a:t>Addressable Targeting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1965960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64748B"/>
                </a:solidFill>
                <a:latin typeface="Inter"/>
              </a:rPr>
              <a:t>Support package · Household-level (1:1) delivery to specific addressable households on connected TV. Bring your own match file, use a third-party data segment, or layer audience overlays to define the target HH set. Frequency is managed at the household.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2697480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64748B"/>
                </a:solidFill>
                <a:latin typeface="Inter"/>
              </a:rPr>
              <a:t>WHAT'S INCLUDED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2953512"/>
            <a:ext cx="7132320" cy="9144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" y="3310128"/>
            <a:ext cx="54864" cy="54864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3200400"/>
            <a:ext cx="67665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334155"/>
                </a:solidFill>
                <a:latin typeface="Inter"/>
              </a:rPr>
              <a:t>HH-level (1:1) addressable delivery on premium CTV inventory.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3813048"/>
            <a:ext cx="54864" cy="54864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3703320"/>
            <a:ext cx="67665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334155"/>
                </a:solidFill>
                <a:latin typeface="Inter"/>
              </a:rPr>
              <a:t>Bring-your-own match file (1P) or 3P data segment to define the target HH set.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4315968"/>
            <a:ext cx="54864" cy="54864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" y="4206240"/>
            <a:ext cx="67665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334155"/>
                </a:solidFill>
                <a:latin typeface="Inter"/>
              </a:rPr>
              <a:t>Frequency capping and creative rotation managed at the household.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2920" y="4818888"/>
            <a:ext cx="54864" cy="54864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7240" y="4709159"/>
            <a:ext cx="67665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334155"/>
                </a:solidFill>
                <a:latin typeface="Inter"/>
              </a:rPr>
              <a:t>Reporting: impressions, unique HHs, reach, frequency, eCPM.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955279" y="2697480"/>
            <a:ext cx="3776472" cy="3108960"/>
          </a:xfrm>
          <a:prstGeom prst="rect">
            <a:avLst/>
          </a:prstGeom>
          <a:solidFill>
            <a:srgbClr val="E5EAF2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955279" y="2697480"/>
            <a:ext cx="73152" cy="310896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29600" y="2926080"/>
            <a:ext cx="331927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1F3A5F"/>
                </a:solidFill>
                <a:latin typeface="Inter"/>
              </a:rPr>
              <a:t>AT A GLANCE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0" y="3200400"/>
            <a:ext cx="331927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0F172A"/>
                </a:solidFill>
                <a:latin typeface="Inter"/>
              </a:rPr>
              <a:t>Addressable Targeting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0" y="3703320"/>
            <a:ext cx="3319272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334155"/>
                </a:solidFill>
                <a:latin typeface="Inter"/>
              </a:rPr>
              <a:t>Household-level (1:1) addressable inventory on connected TV. 1P match files and 3P data segments supported.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229600" y="5029200"/>
            <a:ext cx="3227832" cy="9144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29600" y="5148072"/>
            <a:ext cx="331927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64748B"/>
                </a:solidFill>
                <a:latin typeface="Inter"/>
              </a:rPr>
              <a:t>RATES &amp; DELIVERY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29600" y="5394959"/>
            <a:ext cx="3319272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F3A5F"/>
                </a:solidFill>
                <a:latin typeface="Inter"/>
              </a:rPr>
              <a:t>See package comparison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06" name="CTV Builder Logo"/>
          <p:cNvPicPr>
            <a:picLocks noChangeAspect="1"/>
          </p:cNvPicPr>
          <p:nvPr/>
        </p:nvPicPr>
        <p:blipFill>
          <a:blip xmlns:r="http://schemas.openxmlformats.org/officeDocument/2006/relationships" r:embed="rId2"/>
          <a:stretch>
            <a:fillRect/>
          </a:stretch>
        </p:blipFill>
        <p:spPr>
          <a:xfrm>
            <a:off x="457200" y="274320"/>
            <a:ext cx="2643490" cy="47320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0515600" y="329184"/>
            <a:ext cx="121615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>
                <a:solidFill>
                  <a:srgbClr val="64748B"/>
                </a:solidFill>
                <a:latin typeface="Inter"/>
              </a:rPr>
              <a:t>06 / 08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841248"/>
            <a:ext cx="11274552" cy="9144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6355080"/>
            <a:ext cx="11274552" cy="9144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6446520"/>
            <a:ext cx="7315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Inter"/>
              </a:rPr>
              <a:t>Synthetic portfolio demo — figures shown are illustrative.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0" y="6446520"/>
            <a:ext cx="395935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>
                <a:solidFill>
                  <a:srgbClr val="64748B"/>
                </a:solidFill>
                <a:latin typeface="Inter"/>
              </a:rPr>
              <a:t>Zach's Surf Shop 🌊🏄☀️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1088136"/>
            <a:ext cx="91440" cy="9144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1060704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1F3A5F"/>
                </a:solidFill>
                <a:latin typeface="Inter"/>
              </a:rPr>
              <a:t>COMPARISON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1325880"/>
            <a:ext cx="112471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0F172A"/>
                </a:solidFill>
                <a:latin typeface="Cambria"/>
              </a:rPr>
              <a:t>Package Comparison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1965960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64748B"/>
                </a:solidFill>
                <a:latin typeface="Inter"/>
              </a:rPr>
              <a:t>Each option includes the locked Live component — 26,667 in-game impressions for $2,000 at $75 CPM during Pro Basketball Postseason broadcasts — paired with $2,000 of support inventory. The three options differ in the support CPM, which drives the support impression count and the resulting blended eCPM for the full package.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2697480"/>
            <a:ext cx="11277295" cy="384048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1792" y="2788920"/>
            <a:ext cx="21945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64748B"/>
                </a:solidFill>
                <a:latin typeface="Inter"/>
              </a:rPr>
              <a:t/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71800" y="2788920"/>
            <a:ext cx="2042083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>
                <a:solidFill>
                  <a:srgbClr val="64748B"/>
                </a:solidFill>
                <a:latin typeface="Inter"/>
              </a:rPr>
              <a:t>Option A · Addressable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96763" y="2788920"/>
            <a:ext cx="2042083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>
                <a:solidFill>
                  <a:srgbClr val="64748B"/>
                </a:solidFill>
                <a:latin typeface="Inter"/>
              </a:rPr>
              <a:t>Option B · Custom Nets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21727" y="2788920"/>
            <a:ext cx="2042083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>
                <a:solidFill>
                  <a:srgbClr val="64748B"/>
                </a:solidFill>
                <a:latin typeface="Inter"/>
              </a:rPr>
              <a:t>Option C · Audience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3081528"/>
            <a:ext cx="11277295" cy="9144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1792" y="3209544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0F172A"/>
                </a:solidFill>
                <a:latin typeface="Inter"/>
              </a:rPr>
              <a:t>Support Rate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71800" y="3209544"/>
            <a:ext cx="204208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334155"/>
                </a:solidFill>
                <a:latin typeface="Inter"/>
              </a:rPr>
              <a:t>$45 CPM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196763" y="3209544"/>
            <a:ext cx="204208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334155"/>
                </a:solidFill>
                <a:latin typeface="Inter"/>
              </a:rPr>
              <a:t>$40 CPM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21727" y="3209544"/>
            <a:ext cx="204208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334155"/>
                </a:solidFill>
                <a:latin typeface="Inter"/>
              </a:rPr>
              <a:t>$35 CPM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3538728"/>
            <a:ext cx="11277295" cy="9144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57200" y="3538728"/>
            <a:ext cx="11277295" cy="45720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21792" y="3666744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0F172A"/>
                </a:solidFill>
                <a:latin typeface="Inter"/>
              </a:rPr>
              <a:t>Support Imps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971800" y="3666744"/>
            <a:ext cx="204208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334155"/>
                </a:solidFill>
                <a:latin typeface="Inter"/>
              </a:rPr>
              <a:t>44,444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196763" y="3666744"/>
            <a:ext cx="204208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334155"/>
                </a:solidFill>
                <a:latin typeface="Inter"/>
              </a:rPr>
              <a:t>50,000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21727" y="3666744"/>
            <a:ext cx="204208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334155"/>
                </a:solidFill>
                <a:latin typeface="Inter"/>
              </a:rPr>
              <a:t>57,143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57200" y="3995928"/>
            <a:ext cx="11277295" cy="9144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21792" y="4123944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0F172A"/>
                </a:solidFill>
                <a:latin typeface="Inter"/>
              </a:rPr>
              <a:t>Package Total Imps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971800" y="4123944"/>
            <a:ext cx="204208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334155"/>
                </a:solidFill>
                <a:latin typeface="Inter"/>
              </a:rPr>
              <a:t>71,111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196763" y="4123944"/>
            <a:ext cx="204208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334155"/>
                </a:solidFill>
                <a:latin typeface="Inter"/>
              </a:rPr>
              <a:t>76,667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421727" y="4123944"/>
            <a:ext cx="204208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334155"/>
                </a:solidFill>
                <a:latin typeface="Inter"/>
              </a:rPr>
              <a:t>83,810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57200" y="4453128"/>
            <a:ext cx="11277295" cy="9144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457200" y="4453128"/>
            <a:ext cx="11277295" cy="45720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21792" y="4581144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0F172A"/>
                </a:solidFill>
                <a:latin typeface="Inter"/>
              </a:rPr>
              <a:t>Blended eCPM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971800" y="4581144"/>
            <a:ext cx="204208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334155"/>
                </a:solidFill>
                <a:latin typeface="Inter"/>
              </a:rPr>
              <a:t>$56.25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196763" y="4581144"/>
            <a:ext cx="204208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334155"/>
                </a:solidFill>
                <a:latin typeface="Inter"/>
              </a:rPr>
              <a:t>$52.17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421727" y="4581144"/>
            <a:ext cx="204208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334155"/>
                </a:solidFill>
                <a:latin typeface="Inter"/>
              </a:rPr>
              <a:t>$47.73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57200" y="4910328"/>
            <a:ext cx="11277295" cy="9144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21792" y="5038344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0F172A"/>
                </a:solidFill>
                <a:latin typeface="Inter"/>
              </a:rPr>
              <a:t>Total Investment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971800" y="5038344"/>
            <a:ext cx="204208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334155"/>
                </a:solidFill>
                <a:latin typeface="Inter"/>
              </a:rPr>
              <a:t>$4,000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196763" y="5038344"/>
            <a:ext cx="204208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334155"/>
                </a:solidFill>
                <a:latin typeface="Inter"/>
              </a:rPr>
              <a:t>$4,000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421727" y="5038344"/>
            <a:ext cx="204208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334155"/>
                </a:solidFill>
                <a:latin typeface="Inter"/>
              </a:rPr>
              <a:t>$4,000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57200" y="5367528"/>
            <a:ext cx="11277295" cy="9144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07" name="CTV Builder Logo"/>
          <p:cNvPicPr>
            <a:picLocks noChangeAspect="1"/>
          </p:cNvPicPr>
          <p:nvPr/>
        </p:nvPicPr>
        <p:blipFill>
          <a:blip xmlns:r="http://schemas.openxmlformats.org/officeDocument/2006/relationships" r:embed="rId3"/>
          <a:stretch>
            <a:fillRect/>
          </a:stretch>
        </p:blipFill>
        <p:spPr>
          <a:xfrm>
            <a:off x="457200" y="274320"/>
            <a:ext cx="2643490" cy="47320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0515600" y="329184"/>
            <a:ext cx="121615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>
                <a:solidFill>
                  <a:srgbClr val="64748B"/>
                </a:solidFill>
                <a:latin typeface="Inter"/>
              </a:rPr>
              <a:t>07 / 08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841248"/>
            <a:ext cx="11274552" cy="9144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6355080"/>
            <a:ext cx="11274552" cy="9144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6446520"/>
            <a:ext cx="7315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Inter"/>
              </a:rPr>
              <a:t>Synthetic portfolio demo — figures shown are illustrative.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0" y="6446520"/>
            <a:ext cx="395935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>
                <a:solidFill>
                  <a:srgbClr val="64748B"/>
                </a:solidFill>
                <a:latin typeface="Inter"/>
              </a:rPr>
              <a:t>Zach's Surf Shop 🌊🏄☀️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1088136"/>
            <a:ext cx="91440" cy="9144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1060704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1F3A5F"/>
                </a:solidFill>
                <a:latin typeface="Inter"/>
              </a:rPr>
              <a:t>REFERENCE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1325880"/>
            <a:ext cx="112471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0F172A"/>
                </a:solidFill>
                <a:latin typeface="Cambria"/>
              </a:rPr>
              <a:t>Methodology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1965960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64748B"/>
                </a:solidFill>
                <a:latin typeface="Inter"/>
              </a:rPr>
              <a:t>Definitions and assumptions backing the figures in this proposal.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2697480"/>
            <a:ext cx="54864" cy="54864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2606040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0F172A"/>
                </a:solidFill>
                <a:latin typeface="Inter"/>
              </a:rPr>
              <a:t>CPM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00400" y="2606040"/>
            <a:ext cx="85039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334155"/>
                </a:solidFill>
                <a:latin typeface="Inter"/>
              </a:rPr>
              <a:t>Cost per thousand impressions. Live CPMs reflect in-game premium placements during Pro Basketball Postseason broadcasts; support CPMs refer to secondary impressions for each individual targeting parameter (Addressable, Audience, Custom Networks: each has a distinct CPM).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3291840"/>
            <a:ext cx="54864" cy="54864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3200400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0F172A"/>
                </a:solidFill>
                <a:latin typeface="Inter"/>
              </a:rPr>
              <a:t>eCPM (Effective CPM)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00400" y="3200400"/>
            <a:ext cx="85039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334155"/>
                </a:solidFill>
                <a:latin typeface="Inter"/>
              </a:rPr>
              <a:t>Total package investment ÷ total package impressions × 1,000. The blended rate across Live and Support delivery, used to compare option-level efficiency.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3886200"/>
            <a:ext cx="54864" cy="54864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" y="3794760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0F172A"/>
                </a:solidFill>
                <a:latin typeface="Inter"/>
              </a:rPr>
              <a:t>Live In-Telecast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00400" y="3794760"/>
            <a:ext cx="85039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334155"/>
                </a:solidFill>
                <a:latin typeface="Inter"/>
              </a:rPr>
              <a:t>Inventory delivered during the live game window — premium placements with the highest attention and recall.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2920" y="4480560"/>
            <a:ext cx="54864" cy="54864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7240" y="4389120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0F172A"/>
                </a:solidFill>
                <a:latin typeface="Inter"/>
              </a:rPr>
              <a:t>Support Package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200400" y="4389120"/>
            <a:ext cx="85039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334155"/>
                </a:solidFill>
                <a:latin typeface="Inter"/>
              </a:rPr>
              <a:t>This refers to the support option that will run alongside the live in-game sports impressions. Three flavors: Addressable (HH-level), Custom Nets (curated bundle), Audience (index-targeted).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2920" y="5074920"/>
            <a:ext cx="54864" cy="54864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77240" y="4983480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0F172A"/>
                </a:solidFill>
                <a:latin typeface="Inter"/>
              </a:rPr>
              <a:t>DMA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00400" y="4983480"/>
            <a:ext cx="85039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334155"/>
                </a:solidFill>
                <a:latin typeface="Inter"/>
              </a:rPr>
              <a:t>Designated Market Area — Nielsen-defined geographic boundary used for inventory caps and targeting.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08" name="CTV Builder Logo"/>
          <p:cNvPicPr>
            <a:picLocks noChangeAspect="1"/>
          </p:cNvPicPr>
          <p:nvPr/>
        </p:nvPicPr>
        <p:blipFill>
          <a:blip xmlns:r="http://schemas.openxmlformats.org/officeDocument/2006/relationships" r:embed="rId2"/>
          <a:stretch>
            <a:fillRect/>
          </a:stretch>
        </p:blipFill>
        <p:spPr>
          <a:xfrm>
            <a:off x="457200" y="274320"/>
            <a:ext cx="2643490" cy="47320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0515600" y="329184"/>
            <a:ext cx="121615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>
                <a:solidFill>
                  <a:srgbClr val="64748B"/>
                </a:solidFill>
                <a:latin typeface="Inter"/>
              </a:rPr>
              <a:t>08 / 08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841248"/>
            <a:ext cx="11274552" cy="9144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6355080"/>
            <a:ext cx="11274552" cy="9144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6446520"/>
            <a:ext cx="7315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Inter"/>
              </a:rPr>
              <a:t>Synthetic portfolio demo — figures shown are illustrative.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0" y="6446520"/>
            <a:ext cx="395935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>
                <a:solidFill>
                  <a:srgbClr val="64748B"/>
                </a:solidFill>
                <a:latin typeface="Inter"/>
              </a:rPr>
              <a:t>Live Sports CTV Builder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1088136"/>
            <a:ext cx="91440" cy="9144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1060704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1F3A5F"/>
                </a:solidFill>
                <a:latin typeface="Inter"/>
              </a:rPr>
              <a:t>DELIVERY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1325880"/>
            <a:ext cx="112471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0F172A"/>
                </a:solidFill>
                <a:latin typeface="Cambria"/>
              </a:rPr>
              <a:t>Terms &amp; Notes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1965960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64748B"/>
                </a:solidFill>
                <a:latin typeface="Inter"/>
              </a:rPr>
              <a:t>Conditions for the buy described in this proposal.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2788920"/>
            <a:ext cx="54864" cy="54864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2697480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334155"/>
                </a:solidFill>
                <a:latin typeface="Inter"/>
              </a:rPr>
              <a:t>Live in-telecast inventory delivered against premium sports broadcasts on connected TV.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3246120"/>
            <a:ext cx="54864" cy="54864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3154680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334155"/>
                </a:solidFill>
                <a:latin typeface="Inter"/>
              </a:rPr>
              <a:t>Impressions guaranteed against measured CTV households in the selected DMAs.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3703320"/>
            <a:ext cx="54864" cy="54864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3611880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334155"/>
                </a:solidFill>
                <a:latin typeface="Inter"/>
              </a:rPr>
              <a:t>Buyer to confirm creative specs (15s/30s) and trafficking instructions 7 business days prior to flight.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4160520"/>
            <a:ext cx="54864" cy="54864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" y="4069080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334155"/>
                </a:solidFill>
                <a:latin typeface="Inter"/>
              </a:rPr>
              <a:t>Live CPM reflects in-game premium placements; package CPMs reflect blended delivery.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2920" y="4617720"/>
            <a:ext cx="54864" cy="54864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7240" y="4526280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334155"/>
                </a:solidFill>
                <a:latin typeface="Inter"/>
              </a:rPr>
              <a:t>Reporting cadence: impressions, reach, frequency, eCPM at flight midpoint and completion.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02920" y="5074920"/>
            <a:ext cx="54864" cy="54864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77240" y="4983480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334155"/>
                </a:solidFill>
                <a:latin typeface="Inter"/>
              </a:rPr>
              <a:t>Makegoods at like-quality inventory; cancellation per IAB standard terms unless otherwise agreed.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2920" y="5532120"/>
            <a:ext cx="54864" cy="54864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77240" y="5440680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334155"/>
                </a:solidFill>
                <a:latin typeface="Inter"/>
              </a:rPr>
              <a:t>All figures shown are illustrative — this is a sanitized portfolio demonstration.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